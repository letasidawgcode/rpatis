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igma.com/design/1vDr5ctzmgqD0IavesfV2W/Midterm-Design--GRP-23?node-id=0-1&amp;t=1FRmEXOHahRdec4W-1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859536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111827"/>
                </a:solidFill>
                <a:latin typeface="Segoe UI"/>
              </a:defRPr>
            </a:pPr>
            <a:r>
              <a:t>Real Property Assessment Tracking and Inter-Office Synchronization System</a:t>
            </a:r>
          </a:p>
          <a:p>
            <a:pPr>
              <a:spcAft>
                <a:spcPts val="2400"/>
              </a:spcAft>
              <a:defRPr sz="1350" b="1">
                <a:solidFill>
                  <a:srgbClr val="4B5563"/>
                </a:solidFill>
                <a:latin typeface="Segoe UI"/>
              </a:defRPr>
            </a:pPr>
            <a:r>
              <a:t>Municipal Assessor and Treasurer Offices in Pasacao, Camarines Sur (with Provincial Capitol Approval in Pili)</a:t>
            </a:r>
          </a:p>
          <a:p>
            <a:pPr>
              <a:spcAft>
                <a:spcPts val="3600"/>
              </a:spcAft>
            </a:pPr>
            <a:r>
              <a:rPr sz="1100" b="1" u="sng">
                <a:solidFill>
                  <a:srgbClr val="1D4ED8"/>
                </a:solidFill>
                <a:latin typeface="Segoe UI"/>
                <a:hlinkClick r:id="rId2"/>
              </a:rPr>
              <a:t>https://www.figma.com/design/1vDr5ctzmgqD0IavesfV2W/Midterm-Design--GRP-23?node-id=0-1&amp;t=1FRmEXOHahRdec4W-1</a:t>
            </a:r>
          </a:p>
          <a:p>
            <a:pPr>
              <a:spcAft>
                <a:spcPts val="1000"/>
              </a:spcAft>
              <a:defRPr sz="1300" b="1">
                <a:solidFill>
                  <a:srgbClr val="111827"/>
                </a:solidFill>
                <a:latin typeface="Segoe UI"/>
              </a:defRPr>
            </a:pPr>
            <a:r>
              <a:t>Group members: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Segoe UI"/>
              </a:defRPr>
            </a:pPr>
            <a:r>
              <a:t>Asido, Christian Louise O.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Segoe UI"/>
              </a:defRPr>
            </a:pPr>
            <a:r>
              <a:t>Calubad, John Kenneth P.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Segoe UI"/>
              </a:defRPr>
            </a:pPr>
            <a:r>
              <a:t>Ortega, Rizalina 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Segoe UI"/>
              </a:defRPr>
            </a:pPr>
            <a:r>
              <a:t>eRPT Assessment, Valuation, and Tax Declaration Engine</a:t>
            </a:r>
          </a:p>
          <a:p>
            <a:pPr>
              <a:defRPr sz="1100" b="1">
                <a:solidFill>
                  <a:srgbClr val="4B5563"/>
                </a:solidFill>
                <a:latin typeface="Segoe UI"/>
              </a:defRPr>
            </a:pPr>
            <a:r>
              <a:t>USER PERSONA: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74320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182880"/>
          <a:lstStyle/>
          <a:p>
            <a:pPr algn="ctr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Liza M. Bañares</a:t>
            </a:r>
          </a:p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Assessment Clerk (Age 38)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Municipal Assessor's Office, Pasacao</a:t>
            </a:r>
          </a:p>
          <a:p>
            <a:pPr>
              <a:spcAft>
                <a:spcPts val="1400"/>
              </a:spcAft>
              <a:defRPr sz="1000">
                <a:solidFill>
                  <a:srgbClr val="4B5563"/>
                </a:solidFill>
                <a:latin typeface="Segoe UI"/>
              </a:defRPr>
            </a:pPr>
            <a:r>
              <a:t>Skill: Intermediate (Office software, web browser)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Goal</a:t>
            </a:r>
          </a:p>
          <a:p>
            <a:pPr>
              <a:spcAft>
                <a:spcPts val="1400"/>
              </a:spcAft>
              <a:defRPr sz="1050">
                <a:solidFill>
                  <a:srgbClr val="374151"/>
                </a:solidFill>
                <a:latin typeface="Segoe UI"/>
              </a:defRPr>
            </a:pPr>
            <a:r>
              <a:t>Encode property records rapidly and compute Fair Market Value and Assessed Value without manual formulas.</a:t>
            </a:r>
          </a:p>
          <a:p>
            <a:pPr>
              <a:spcAft>
                <a:spcPts val="6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Pain Points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Paper archives from 1949 take hours to search during title verification.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Current eRPT software lacks data fields for complex building sub-components.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Manual paper preparation causes double work before digital encoding.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554480"/>
            <a:ext cx="274320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182880"/>
          <a:lstStyle/>
          <a:p>
            <a:pPr algn="ctr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Ramon S. Alcantara</a:t>
            </a:r>
          </a:p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Municipal Assessor (Age 52)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Municipal Assessor's Office, Pasacao</a:t>
            </a:r>
          </a:p>
          <a:p>
            <a:pPr>
              <a:spcAft>
                <a:spcPts val="1400"/>
              </a:spcAft>
              <a:defRPr sz="1000">
                <a:solidFill>
                  <a:srgbClr val="4B5563"/>
                </a:solidFill>
                <a:latin typeface="Segoe UI"/>
              </a:defRPr>
            </a:pPr>
            <a:r>
              <a:t>Skill: Basic (Document review, appraisal approval)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Goal</a:t>
            </a:r>
          </a:p>
          <a:p>
            <a:pPr>
              <a:spcAft>
                <a:spcPts val="1400"/>
              </a:spcAft>
              <a:defRPr sz="1050">
                <a:solidFill>
                  <a:srgbClr val="374151"/>
                </a:solidFill>
                <a:latin typeface="Segoe UI"/>
              </a:defRPr>
            </a:pPr>
            <a:r>
              <a:t>Review property valuations accurately and issue digital Recommending Approval dockets on schedule.</a:t>
            </a:r>
          </a:p>
          <a:p>
            <a:pPr>
              <a:spcAft>
                <a:spcPts val="6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Pain Points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Handwritten appraisal sheets contain calculation errors in assessment levels.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Incomplete supporting documents delay endorsement packets for weeks.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Lack of queue visibility hides transaction delays across assessment stages.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274320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182880"/>
          <a:lstStyle/>
          <a:p>
            <a:pPr algn="ctr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Elena V. Ramos</a:t>
            </a:r>
          </a:p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Property Owner / Taxpayer (Age 45)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Barangay Santa Rosa del Norte, Pasacao</a:t>
            </a:r>
          </a:p>
          <a:p>
            <a:pPr>
              <a:spcAft>
                <a:spcPts val="1400"/>
              </a:spcAft>
              <a:defRPr sz="1000">
                <a:solidFill>
                  <a:srgbClr val="4B5563"/>
                </a:solidFill>
                <a:latin typeface="Segoe UI"/>
              </a:defRPr>
            </a:pPr>
            <a:r>
              <a:t>Skill: Novice (Basic smartphone, text messaging)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Goal</a:t>
            </a:r>
          </a:p>
          <a:p>
            <a:pPr>
              <a:spcAft>
                <a:spcPts val="1400"/>
              </a:spcAft>
              <a:defRPr sz="1050">
                <a:solidFill>
                  <a:srgbClr val="374151"/>
                </a:solidFill>
                <a:latin typeface="Segoe UI"/>
              </a:defRPr>
            </a:pPr>
            <a:r>
              <a:t>Submit property assessment documents and verify requirements without repeated counter visits.</a:t>
            </a:r>
          </a:p>
          <a:p>
            <a:pPr>
              <a:spcAft>
                <a:spcPts val="6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Pain Points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Arriving at municipal hall only to learn that required documents are missing.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Travel costs and long waiting lines to check simple application status.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No online checklist exists to verify required submissions in advance.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11827"/>
                </a:solidFill>
                <a:latin typeface="Segoe UI"/>
              </a:defRPr>
            </a:pPr>
            <a:r>
              <a:t>JOURNEY MAP: Municipal Assessment Clerk Processing Assessment &amp; Valuation</a:t>
            </a:r>
          </a:p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Scenario: Citizen submits a New Assessment or Transfer request (Baseline: 7+ days | Target: Automated digital appraisal in &lt;24 hours)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19456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 bIns="146304"/>
          <a:lstStyle/>
          <a:p>
            <a:pPr algn="ctr">
              <a:defRPr sz="1300" b="1">
                <a:solidFill>
                  <a:srgbClr val="111827"/>
                </a:solidFill>
                <a:latin typeface="Segoe UI"/>
              </a:defRPr>
            </a:pPr>
            <a:r>
              <a:t>Liza M. Bañares</a:t>
            </a:r>
          </a:p>
          <a:p>
            <a:pPr>
              <a:spcAft>
                <a:spcPts val="1400"/>
              </a:spcAft>
              <a:defRPr sz="1100" b="1">
                <a:solidFill>
                  <a:srgbClr val="1D4ED8"/>
                </a:solidFill>
                <a:latin typeface="Segoe UI"/>
              </a:defRPr>
            </a:pPr>
            <a:r>
              <a:t>Assessment Clerk (Age 38)</a:t>
            </a:r>
          </a:p>
          <a:p>
            <a:pPr>
              <a:spcAft>
                <a:spcPts val="400"/>
              </a:spcAft>
              <a:defRPr sz="1100" b="1">
                <a:solidFill>
                  <a:srgbClr val="111827"/>
                </a:solidFill>
                <a:latin typeface="Segoe UI"/>
              </a:defRPr>
            </a:pPr>
            <a:r>
              <a:t>Operational Context</a:t>
            </a:r>
          </a:p>
          <a:p>
            <a:pPr>
              <a:spcAft>
                <a:spcPts val="14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Validates property conveyance deeds, searches tax declaration archives, enters building sub-components, and computes valuations.</a:t>
            </a:r>
          </a:p>
          <a:p>
            <a:pPr>
              <a:spcAft>
                <a:spcPts val="400"/>
              </a:spcAft>
              <a:defRPr sz="1100" b="1">
                <a:solidFill>
                  <a:srgbClr val="111827"/>
                </a:solidFill>
                <a:latin typeface="Segoe UI"/>
              </a:defRPr>
            </a:pPr>
            <a:r>
              <a:t>Process Structure</a:t>
            </a:r>
          </a:p>
          <a:p>
            <a:pPr>
              <a:defRPr sz="1000">
                <a:solidFill>
                  <a:srgbClr val="374151"/>
                </a:solidFill>
                <a:latin typeface="Segoe UI"/>
              </a:defRPr>
            </a:pPr>
            <a:r>
              <a:t>The workflow covers five phases: pre-screening, archive search, automated valuation, digital tax declaration, and recommending docket creation.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63240" y="1463040"/>
          <a:ext cx="626364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51560"/>
                <a:gridCol w="1051560"/>
                <a:gridCol w="1051560"/>
                <a:gridCol w="1051560"/>
                <a:gridCol w="1051560"/>
              </a:tblGrid>
              <a:tr h="14401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1. Pre-Screening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2. Archive Lookup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3. Automated Valuation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4. Digital Tax Declaration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5. Recommending Docket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4401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ACTIONS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Receives deed of sale and title. Checks paper checklist. Enters applicant data into logbook.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Searches physical metal cabinets for legacy 1949 tax declarations. Verifies Property Index Number.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Enters property area and classification. System applies SMV unit rate and assessment level.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Generates digital Tax Declaration, Notice of Assessment, and appraisal schedule sheet.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Assessor signs Recommending Approval. Exports assessment roll packet for Treasury and Capitol.</a:t>
                      </a:r>
                    </a:p>
                  </a:txBody>
                  <a:tcPr/>
                </a:tc>
              </a:tr>
              <a:tr h="14401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9A3412"/>
                          </a:solidFill>
                          <a:latin typeface="Segoe UI"/>
                        </a:defRPr>
                      </a:pPr>
                      <a:r>
                        <a:t>EMOTIONS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Focused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Worried about missing supporting documents and applicant queue.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Frustrated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Brittle paper records are torn, unindexed, and difficult to decipher.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Relieved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Software computes Fair Market Value instantly without manual math.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Confident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Standardized digital form eliminates handwritten clerical errors.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Satisfied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Recommending docket is ready for digital endorsement without transit delays.</a:t>
                      </a:r>
                    </a:p>
                  </a:txBody>
                  <a:tcPr/>
                </a:tc>
              </a:tr>
              <a:tr h="14401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65F46"/>
                          </a:solidFill>
                          <a:latin typeface="Segoe UI"/>
                        </a:defRPr>
                      </a:pPr>
                      <a:r>
                        <a:t>SOLUTION</a:t>
                      </a:r>
                      <a:br/>
                      <a:r>
                        <a:t>IDEAS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Digital checklist pre-screens requirements online. System assigns a tracking number instantly.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Indexed database search retrieves property history by Property Index Number within two seconds.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Automated computation engine calculates Fair Market Value and Assessed Value under RA 7160.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System generates electronic Tax Declaration with complete building sub-component fields.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Digital docket packaging attaches verified documents for instant export to Modules 2 and 3.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85953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4B5563"/>
                </a:solidFill>
                <a:latin typeface="Segoe UI"/>
              </a:defRPr>
            </a:pPr>
            <a:r>
              <a:t>STORY BOARD: eRPT Assessment, Valuation, and Tax Declaration Engine</a:t>
            </a:r>
          </a:p>
        </p:txBody>
      </p:sp>
      <p:pic>
        <p:nvPicPr>
          <p:cNvPr id="3" name="Picture 2" descr="storyboard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8595360" cy="47974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8595360" cy="640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11827"/>
                </a:solidFill>
                <a:latin typeface="Segoe UI"/>
              </a:defRPr>
            </a:pPr>
            <a:r>
              <a:t>USER &amp; SYSTEM REQUIREMENTS SPECIFICATION</a:t>
            </a:r>
          </a:p>
          <a:p>
            <a:pPr>
              <a:spcAft>
                <a:spcPts val="400"/>
              </a:spcAft>
              <a:defRPr sz="1250" b="1">
                <a:solidFill>
                  <a:srgbClr val="111827"/>
                </a:solidFill>
                <a:latin typeface="Segoe UI"/>
              </a:defRPr>
            </a:pPr>
            <a:r>
              <a:t>USER 1: MUNICIPAL ASSESSMENT CLERK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Assessment clerks encode property details, verify supporting conveyances, and calculate statutory property valuations.</a:t>
            </a:r>
          </a:p>
          <a:p>
            <a:pPr>
              <a:spcAft>
                <a:spcPts val="4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USER REQUIREMENTS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The system must provide digital checklists, automated valuation computation, and digital Tax Declaration generation.</a:t>
            </a:r>
          </a:p>
          <a:p>
            <a:pPr>
              <a:spcAft>
                <a:spcPts val="8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SYSTEM REQUIREMENTS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FR1.1: The system must record property assessment requests with property classification and Property Index Number.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FR1.2: The system must calculate Fair Market Value automatically from encoded area and Schedule of Market Values.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FR1.3: The system must calculate Assessed Value automatically using statutory assessment levels under Republic Act 7160.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FR1.4: The system must capture building sub-components including structural type, floor area, year built, and depreciation.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FR1.5: The system must export completed Assessment Rolls in standardized format for Treasury billing import.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Non-Functional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NF1.1: The system must retrieve property search results in less than two seconds.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NF1.2: The system must restrict record editing to authorized municipal assessment staff using role permissions.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NF1.3: The system must maintain an audit log of all property valuation edits with user timestamps.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NF1.4: The system must mask personal identifying data in compliance with Republic Act 10173.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8595360" cy="640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11827"/>
                </a:solidFill>
                <a:latin typeface="Segoe UI"/>
              </a:defRPr>
            </a:pPr>
            <a:r>
              <a:t>USER &amp; SYSTEM REQUIREMENTS SPECIFICATION</a:t>
            </a:r>
          </a:p>
          <a:p>
            <a:pPr>
              <a:spcAft>
                <a:spcPts val="400"/>
              </a:spcAft>
              <a:defRPr sz="1250" b="1">
                <a:solidFill>
                  <a:srgbClr val="111827"/>
                </a:solidFill>
                <a:latin typeface="Segoe UI"/>
              </a:defRPr>
            </a:pPr>
            <a:r>
              <a:t>USER 2: MUNICIPAL ASSESSOR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The Municipal Assessor inspects property appraisals, confirms statutory rates, and signs Recommending Approval endorsements.</a:t>
            </a:r>
          </a:p>
          <a:p>
            <a:pPr>
              <a:spcAft>
                <a:spcPts val="4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USER REQUIREMENTS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The system must provide digital appraisal review queues, valuation verification screens, and docket endorsement bundling.</a:t>
            </a:r>
          </a:p>
          <a:p>
            <a:pPr>
              <a:spcAft>
                <a:spcPts val="8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SYSTEM REQUIREMENTS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FR2.1: The system must display an organized review queue of all pending property appraisal dockets.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FR2.2: The system must generate digital Tax Declarations containing statutory Recommending Approval notation.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FR2.3: The system must flag assessment requests that remain pending review for more than three days.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FR2.4: The system must support property transaction types including discovery, transfer, reassessment, and cancellation.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Non-Functional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NF2.1: The review queue interface must render appraisal schedules in less than three seconds.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NF2.2: The Recommending Approval endorsement must require verified assessor login credentials.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NF2.3: The system must preserve historical valuation records for statutory audit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8595360" cy="640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11827"/>
                </a:solidFill>
                <a:latin typeface="Segoe UI"/>
              </a:defRPr>
            </a:pPr>
            <a:r>
              <a:t>USER &amp; SYSTEM REQUIREMENTS SPECIFICATION</a:t>
            </a:r>
          </a:p>
          <a:p>
            <a:pPr>
              <a:spcAft>
                <a:spcPts val="400"/>
              </a:spcAft>
              <a:defRPr sz="1250" b="1">
                <a:solidFill>
                  <a:srgbClr val="111827"/>
                </a:solidFill>
                <a:latin typeface="Segoe UI"/>
              </a:defRPr>
            </a:pPr>
            <a:r>
              <a:t>USER 3: PROPERTY OWNER / TAXPAYER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Property owners file assessment applications and need clear requirements to avoid repeated trips to the municipal hall.</a:t>
            </a:r>
          </a:p>
          <a:p>
            <a:pPr>
              <a:spcAft>
                <a:spcPts val="4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USER REQUIREMENTS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The system must provide an accessible digital document checklist and an inquiry tool to track assessment status.</a:t>
            </a:r>
          </a:p>
          <a:p>
            <a:pPr>
              <a:spcAft>
                <a:spcPts val="8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SYSTEM REQUIREMENTS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FR3.1: The system must provide an online pre-screening checklist for deeds, titles, and building permits.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FR3.2: The system must display missing document notices before the citizen visits the municipal hall.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FR3.3: The system must allow taxpayers to check assessment status using a unique tracking number.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FR3.4: The system must display the current processing milestone of the submitted assessment application.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Non-Functional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NF3.1: The public checklist portal must function on smartphone web browsers without software installation.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NF3.2: The status query page must load in less than three seconds on standard mobile networks.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NF3.3: The system must protect property ownership data in compliance with Republic Act 10173.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Segoe UI"/>
              </a:defRPr>
            </a:pPr>
            <a:r>
              <a:t>Treasurer's Office Tax Collection and Billing Management Module</a:t>
            </a:r>
          </a:p>
          <a:p>
            <a:pPr>
              <a:defRPr sz="1100" b="1">
                <a:solidFill>
                  <a:srgbClr val="4B5563"/>
                </a:solidFill>
                <a:latin typeface="Segoe UI"/>
              </a:defRPr>
            </a:pPr>
            <a:r>
              <a:t>USER PERSONA: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74320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182880"/>
          <a:lstStyle/>
          <a:p>
            <a:pPr algn="ctr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Carmen R. Villaluz</a:t>
            </a:r>
          </a:p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Treasury Cashier / Collector (Age 42)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Municipal Treasurer's Office, Pasacao</a:t>
            </a:r>
          </a:p>
          <a:p>
            <a:pPr>
              <a:spcAft>
                <a:spcPts val="1400"/>
              </a:spcAft>
              <a:defRPr sz="1000">
                <a:solidFill>
                  <a:srgbClr val="4B5563"/>
                </a:solidFill>
                <a:latin typeface="Segoe UI"/>
              </a:defRPr>
            </a:pPr>
            <a:r>
              <a:t>Skill: Intermediate (Cash drawers, receipt printing)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Goal</a:t>
            </a:r>
          </a:p>
          <a:p>
            <a:pPr>
              <a:spcAft>
                <a:spcPts val="1400"/>
              </a:spcAft>
              <a:defRPr sz="1050">
                <a:solidFill>
                  <a:srgbClr val="374151"/>
                </a:solidFill>
                <a:latin typeface="Segoe UI"/>
              </a:defRPr>
            </a:pPr>
            <a:r>
              <a:t>Process walk-in tax payments accurately and compute discounts and penalties without manual arithmetic.</a:t>
            </a:r>
          </a:p>
          <a:p>
            <a:pPr>
              <a:spcAft>
                <a:spcPts val="6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Pain Points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Manual calculation of quarterly penalties (2% per month) causes long lines.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Physical paper receipts require tedious matching against paper ledger books.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Manual receipt re-entry leads to reconciliation errors during audit periods.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554480"/>
            <a:ext cx="274320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182880"/>
          <a:lstStyle/>
          <a:p>
            <a:pPr algn="ctr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Arthur T. Morales</a:t>
            </a:r>
          </a:p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Municipal Treasurer (Age 55)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Municipal Treasurer's Office, Pasacao</a:t>
            </a:r>
          </a:p>
          <a:p>
            <a:pPr>
              <a:spcAft>
                <a:spcPts val="1400"/>
              </a:spcAft>
              <a:defRPr sz="1000">
                <a:solidFill>
                  <a:srgbClr val="4B5563"/>
                </a:solidFill>
                <a:latin typeface="Segoe UI"/>
              </a:defRPr>
            </a:pPr>
            <a:r>
              <a:t>Skill: Basic to Intermediate (Revenue oversight)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Goal</a:t>
            </a:r>
          </a:p>
          <a:p>
            <a:pPr>
              <a:spcAft>
                <a:spcPts val="1400"/>
              </a:spcAft>
              <a:defRPr sz="1050">
                <a:solidFill>
                  <a:srgbClr val="374151"/>
                </a:solidFill>
                <a:latin typeface="Segoe UI"/>
              </a:defRPr>
            </a:pPr>
            <a:r>
              <a:t>Monitor tax revenue targets, track delinquent accounts, and issue verified electronic tax clearances.</a:t>
            </a:r>
          </a:p>
          <a:p>
            <a:pPr>
              <a:spcAft>
                <a:spcPts val="6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Pain Points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Assessment Rolls arrive through manual paper submission from the Assessor.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No automated tool flags delinquent accounts or calculates accumulated back taxes.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Cross-checking tax clearances against manual ledgers takes multiple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274320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182880"/>
          <a:lstStyle/>
          <a:p>
            <a:pPr algn="ctr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Danilo S. Perez</a:t>
            </a:r>
          </a:p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Real Property Taxpayer (Age 49)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Poblacion, Pasacao</a:t>
            </a:r>
          </a:p>
          <a:p>
            <a:pPr>
              <a:spcAft>
                <a:spcPts val="1400"/>
              </a:spcAft>
              <a:defRPr sz="1000">
                <a:solidFill>
                  <a:srgbClr val="4B5563"/>
                </a:solidFill>
                <a:latin typeface="Segoe UI"/>
              </a:defRPr>
            </a:pPr>
            <a:r>
              <a:t>Skill: Basic (Mobile phone, bank transactions)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Goal</a:t>
            </a:r>
          </a:p>
          <a:p>
            <a:pPr>
              <a:spcAft>
                <a:spcPts val="1400"/>
              </a:spcAft>
              <a:defRPr sz="1050">
                <a:solidFill>
                  <a:srgbClr val="374151"/>
                </a:solidFill>
                <a:latin typeface="Segoe UI"/>
              </a:defRPr>
            </a:pPr>
            <a:r>
              <a:t>Receive an itemized billing statement and secure an official Tax Clearance immediately after payment.</a:t>
            </a:r>
          </a:p>
          <a:p>
            <a:pPr>
              <a:spcAft>
                <a:spcPts val="6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Pain Points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No pre-billing statement is issued before the annual payment deadline.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Confusion regarding discount rates (20% versus 10%) on quarterly payments.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Waiting days to receive a signed Tax Clearance required for property sale.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11827"/>
                </a:solidFill>
                <a:latin typeface="Segoe UI"/>
              </a:defRPr>
            </a:pPr>
            <a:r>
              <a:t>JOURNEY MAP: Treasury Cashier Processing Tax Billing, Collection &amp; Tax Clearance</a:t>
            </a:r>
          </a:p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Scenario: Taxpayer settles annual or quarterly tax dues (Baseline: 3–5 days manual ledger check | Target: Instant billing &amp; digital clearance)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19456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 bIns="146304"/>
          <a:lstStyle/>
          <a:p>
            <a:pPr algn="ctr">
              <a:defRPr sz="1300" b="1">
                <a:solidFill>
                  <a:srgbClr val="111827"/>
                </a:solidFill>
                <a:latin typeface="Segoe UI"/>
              </a:defRPr>
            </a:pPr>
            <a:r>
              <a:t>Carmen R. Villaluz</a:t>
            </a:r>
          </a:p>
          <a:p>
            <a:pPr>
              <a:spcAft>
                <a:spcPts val="1400"/>
              </a:spcAft>
              <a:defRPr sz="1100" b="1">
                <a:solidFill>
                  <a:srgbClr val="1D4ED8"/>
                </a:solidFill>
                <a:latin typeface="Segoe UI"/>
              </a:defRPr>
            </a:pPr>
            <a:r>
              <a:t>Treasury Cashier (Age 42)</a:t>
            </a:r>
          </a:p>
          <a:p>
            <a:pPr>
              <a:spcAft>
                <a:spcPts val="400"/>
              </a:spcAft>
              <a:defRPr sz="1100" b="1">
                <a:solidFill>
                  <a:srgbClr val="111827"/>
                </a:solidFill>
                <a:latin typeface="Segoe UI"/>
              </a:defRPr>
            </a:pPr>
            <a:r>
              <a:t>Operational Context</a:t>
            </a:r>
          </a:p>
          <a:p>
            <a:pPr>
              <a:spcAft>
                <a:spcPts val="14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Imports assessment data, issues tax billing statements, processes cash payments, and issues official receipts and clearances.</a:t>
            </a:r>
          </a:p>
          <a:p>
            <a:pPr>
              <a:spcAft>
                <a:spcPts val="400"/>
              </a:spcAft>
              <a:defRPr sz="1100" b="1">
                <a:solidFill>
                  <a:srgbClr val="111827"/>
                </a:solidFill>
                <a:latin typeface="Segoe UI"/>
              </a:defRPr>
            </a:pPr>
            <a:r>
              <a:t>Process Structure</a:t>
            </a:r>
          </a:p>
          <a:p>
            <a:pPr>
              <a:defRPr sz="1000">
                <a:solidFill>
                  <a:srgbClr val="374151"/>
                </a:solidFill>
                <a:latin typeface="Segoe UI"/>
              </a:defRPr>
            </a:pPr>
            <a:r>
              <a:t>The workflow covers five phases: roll import, automated tax calculation, payment receipting, ledger posting, and tax clearance issuance.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63240" y="1463040"/>
          <a:ext cx="626364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51560"/>
                <a:gridCol w="1051560"/>
                <a:gridCol w="1051560"/>
                <a:gridCol w="1051560"/>
                <a:gridCol w="1051560"/>
              </a:tblGrid>
              <a:tr h="14401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1. Roll Import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2. Automated Tax Due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3. Payment Receipting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4. Instant Ledger Posting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5. Issuing Clearance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4401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ACTIONS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Imports digital Assessment Roll from Module 1 without manual typing. Verifies PIN and Assessed Value.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System computes Basic Tax (1%) and SEF (1%). Applies prompt discounts or monthly penalties.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Cashier collects cash or check payment. System records transaction and prints Official Receipt.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Database posts payment record instantly. Updates property balance to zero in treasury ledger.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System validates zero outstanding balance and generates official printable Tax Clearance.</a:t>
                      </a:r>
                    </a:p>
                  </a:txBody>
                  <a:tcPr/>
                </a:tc>
              </a:tr>
              <a:tr h="14401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9A3412"/>
                          </a:solidFill>
                          <a:latin typeface="Segoe UI"/>
                        </a:defRPr>
                      </a:pPr>
                      <a:r>
                        <a:t>EMOTIONS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Relieved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Eliminates manual re-entry of hundreds of property assessment records.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Confident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Automated discounts and penalties remove arithmetic errors completely.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Efficient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Cashier completes transaction quickly and reduces counter queue.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Reassured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Ledger updates automatically without end-of-day manual tallying.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Pleased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Taxpayer receives official Tax Clearance during the same counter visit.</a:t>
                      </a:r>
                    </a:p>
                  </a:txBody>
                  <a:tcPr/>
                </a:tc>
              </a:tr>
              <a:tr h="14401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65F46"/>
                          </a:solidFill>
                          <a:latin typeface="Segoe UI"/>
                        </a:defRPr>
                      </a:pPr>
                      <a:r>
                        <a:t>SOLUTION</a:t>
                      </a:r>
                      <a:br/>
                      <a:r>
                        <a:t>IDEAS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Digital import interface transfers Assessment Roll data directly from Module 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Automated computation engine calculates Basic Tax, SEF, discounts, and penalties under RA 7160.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Electronic cashier module captures payment details and prints standardized Official Receipts.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Centralized relational database synchronizes payment balances instantly across accounts.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Automated clearance generator issues verifiable Tax Clearances for zero-balance properties.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85953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4B5563"/>
                </a:solidFill>
                <a:latin typeface="Segoe UI"/>
              </a:defRPr>
            </a:pPr>
            <a:r>
              <a:t>STORY BOARD: Treasurer's Office Tax Collection and Billing Management Module</a:t>
            </a:r>
          </a:p>
        </p:txBody>
      </p:sp>
      <p:pic>
        <p:nvPicPr>
          <p:cNvPr id="3" name="Picture 2" descr="storyboard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8595360" cy="47974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8595360" cy="640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11827"/>
                </a:solidFill>
                <a:latin typeface="Segoe UI"/>
              </a:defRPr>
            </a:pPr>
            <a:r>
              <a:t>USER &amp; SYSTEM REQUIREMENTS SPECIFICATION</a:t>
            </a:r>
          </a:p>
          <a:p>
            <a:pPr>
              <a:spcAft>
                <a:spcPts val="400"/>
              </a:spcAft>
              <a:defRPr sz="1250" b="1">
                <a:solidFill>
                  <a:srgbClr val="111827"/>
                </a:solidFill>
                <a:latin typeface="Segoe UI"/>
              </a:defRPr>
            </a:pPr>
            <a:r>
              <a:t>USER 1: TREASURY COLLECTION CLERK / CASHIER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Collection clerks search property tax records, collect payments, and issue official municipal receipts.</a:t>
            </a:r>
          </a:p>
          <a:p>
            <a:pPr>
              <a:spcAft>
                <a:spcPts val="4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USER REQUIREMENTS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The system must display pre-computed tax dues, calculate discounts and penalties, and print official receipts.</a:t>
            </a:r>
          </a:p>
          <a:p>
            <a:pPr>
              <a:spcAft>
                <a:spcPts val="8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SYSTEM REQUIREMENTS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FR1.1: The system must import Assessment Roll data directly from Module 1 without manual re-entry.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FR1.2: The system must calculate Basic Real Property Tax (1%) and Special Education Fund (1%) under RA 7160.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FR1.3: The system must compute prompt payment discounts (20% and 10%) and monthly penalties (2% up to 72%).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FR1.4: The system must record payment transactions and print official receipts showing amount, year, and date.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FR1.5: The system must support quarterly installment schedules due on March 31, June 30, September 30, and December 31.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Non-Functional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NF1.1: The system must return taxpayer record search results in less than two seconds.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NF1.2: The system must enforce atomic transactions to prevent payment data loss during network disruptions.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NF1.3: The collection interface must maintain high responsiveness during annual peak tax periods.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8595360" cy="640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11827"/>
                </a:solidFill>
                <a:latin typeface="Segoe UI"/>
              </a:defRPr>
            </a:pPr>
            <a:r>
              <a:t>USER &amp; SYSTEM REQUIREMENTS SPECIFICATION</a:t>
            </a:r>
          </a:p>
          <a:p>
            <a:pPr>
              <a:spcAft>
                <a:spcPts val="400"/>
              </a:spcAft>
              <a:defRPr sz="1250" b="1">
                <a:solidFill>
                  <a:srgbClr val="111827"/>
                </a:solidFill>
                <a:latin typeface="Segoe UI"/>
              </a:defRPr>
            </a:pPr>
            <a:r>
              <a:t>USER 2: MUNICIPAL TREASURER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The Municipal Treasurer monitors revenue performance, tracks delinquent properties, and authorizes official tax clearances.</a:t>
            </a:r>
          </a:p>
          <a:p>
            <a:pPr>
              <a:spcAft>
                <a:spcPts val="4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USER REQUIREMENTS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The system must provide collection summary dashboards, automated delinquency tracking, and digital tax clearance generation.</a:t>
            </a:r>
          </a:p>
          <a:p>
            <a:pPr>
              <a:spcAft>
                <a:spcPts val="8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SYSTEM REQUIREMENTS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FR2.1: The system must generate daily, monthly, and annual real property tax collection summary reports.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FR2.2: The system must flag delinquent properties automatically and compute accumulated penalties.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FR2.3: The system must generate verifiable Tax Clearance documents for properties with zero outstanding tax balance.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FR2.4: The system must export delinquency lists formatted for municipal enforcement and statutory reporting.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Non-Functional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NF2.1: Executive collection dashboards must update balances automatically after every posted payment.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NF2.2: The system must protect financial collection records with encryption during transmission and storage.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NF2.3: The system must record user credentials and exact timestamps for all generated tax clearances.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8595360" cy="640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11827"/>
                </a:solidFill>
                <a:latin typeface="Segoe UI"/>
              </a:defRPr>
            </a:pPr>
            <a:r>
              <a:t>USER &amp; SYSTEM REQUIREMENTS SPECIFICATION</a:t>
            </a:r>
          </a:p>
          <a:p>
            <a:pPr>
              <a:spcAft>
                <a:spcPts val="400"/>
              </a:spcAft>
              <a:defRPr sz="1250" b="1">
                <a:solidFill>
                  <a:srgbClr val="111827"/>
                </a:solidFill>
                <a:latin typeface="Segoe UI"/>
              </a:defRPr>
            </a:pPr>
            <a:r>
              <a:t>USER 3: REAL PROPERTY TAXPAYER / PROPERTY OWNER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Taxpayers settle annual or quarterly property taxes and require itemized billing statements and payment confirmation.</a:t>
            </a:r>
          </a:p>
          <a:p>
            <a:pPr>
              <a:spcAft>
                <a:spcPts val="4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USER REQUIREMENTS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The system must generate clear billing statements showing tax due, discounts, penalties, and installment due dates.</a:t>
            </a:r>
          </a:p>
          <a:p>
            <a:pPr>
              <a:spcAft>
                <a:spcPts val="8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SYSTEM REQUIREMENTS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FR3.1: The system must generate itemized billing statements displaying Basic Tax and Special Education Fund levies.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FR3.2: The system must show applicable prompt payment discounts and penalty amounts clearly on the bill.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FR3.3: The system must provide quarterly installment breakdowns with statutory due dates.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FR3.4: The system must issue printable payment receipts stating property details, tax year, and amount paid.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Non-Functional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NF3.1: The system must format billing statements in standard printable layout for frontline municipal release.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NF3.2: The system must mask personal taxpayer details on public inquiry screens under Republic Act 10173.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NF3.3: The billing inquiry interface must display complete account statements in less than two seconds.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Segoe UI"/>
              </a:defRPr>
            </a:pPr>
            <a:r>
              <a:t>Provincial Capitol Remote Endorsement &amp; Digital Approval Pipeline</a:t>
            </a:r>
          </a:p>
          <a:p>
            <a:pPr>
              <a:defRPr sz="1100" b="1">
                <a:solidFill>
                  <a:srgbClr val="4B5563"/>
                </a:solidFill>
                <a:latin typeface="Segoe UI"/>
              </a:defRPr>
            </a:pPr>
            <a:r>
              <a:t>USER PERSONA: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74320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182880"/>
          <a:lstStyle/>
          <a:p>
            <a:pPr algn="ctr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Engr. Rodrigo E. Peña</a:t>
            </a:r>
          </a:p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Provincial Review Examiner (Age 44)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Technical Review Unit, Provincial Capitol, Pili</a:t>
            </a:r>
          </a:p>
          <a:p>
            <a:pPr>
              <a:spcAft>
                <a:spcPts val="1400"/>
              </a:spcAft>
              <a:defRPr sz="1000">
                <a:solidFill>
                  <a:srgbClr val="4B5563"/>
                </a:solidFill>
                <a:latin typeface="Segoe UI"/>
              </a:defRPr>
            </a:pPr>
            <a:r>
              <a:t>Skill: Advanced (Cadastral review, statutory appraisal)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Goal</a:t>
            </a:r>
          </a:p>
          <a:p>
            <a:pPr>
              <a:spcAft>
                <a:spcPts val="1400"/>
              </a:spcAft>
              <a:defRPr sz="1050">
                <a:solidFill>
                  <a:srgbClr val="374151"/>
                </a:solidFill>
                <a:latin typeface="Segoe UI"/>
              </a:defRPr>
            </a:pPr>
            <a:r>
              <a:t>Inspect municipal endorsement dockets online and audit valuation compliance without handling heavy paper bundles.</a:t>
            </a:r>
          </a:p>
          <a:p>
            <a:pPr>
              <a:spcAft>
                <a:spcPts val="6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Pain Points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Paper dossiers from 35 municipalities arrive weekly and create huge backlogs.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Physical paper cross-referencing against provincial schedules takes days.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Returning deficient dockets requires waiting for the next weekly courier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554480"/>
            <a:ext cx="274320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182880"/>
          <a:lstStyle/>
          <a:p>
            <a:pPr algn="ctr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Atty. Gerardo M. San Juan</a:t>
            </a:r>
          </a:p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Provincial Assessor (Age 58)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Provincial Assessor's Office, Provincial Capitol, Pili</a:t>
            </a:r>
          </a:p>
          <a:p>
            <a:pPr>
              <a:spcAft>
                <a:spcPts val="1400"/>
              </a:spcAft>
              <a:defRPr sz="1000">
                <a:solidFill>
                  <a:srgbClr val="4B5563"/>
                </a:solidFill>
                <a:latin typeface="Segoe UI"/>
              </a:defRPr>
            </a:pPr>
            <a:r>
              <a:t>Skill: Intermediate (Statutory approvals, legal oversight)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Goal</a:t>
            </a:r>
          </a:p>
          <a:p>
            <a:pPr>
              <a:spcAft>
                <a:spcPts val="1400"/>
              </a:spcAft>
              <a:defRPr sz="1050">
                <a:solidFill>
                  <a:srgbClr val="374151"/>
                </a:solidFill>
                <a:latin typeface="Segoe UI"/>
              </a:defRPr>
            </a:pPr>
            <a:r>
              <a:t>Execute official statutory approvals digitally with cryptographic security and issue certified CIS documents rapidly.</a:t>
            </a:r>
          </a:p>
          <a:p>
            <a:pPr>
              <a:spcAft>
                <a:spcPts val="6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Pain Points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Manual physical signing of thousands of paper sheets causes multi-week delays.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Risk of forged signatures or altered property valuations on physical sheets.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Lack of digital tracking hides review bottlenecks across municipal queues.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274320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182880"/>
          <a:lstStyle/>
          <a:p>
            <a:pPr algn="ctr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Liza M. Bañares</a:t>
            </a:r>
          </a:p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Municipal Endorsement Officer (Age 40)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Municipal Assessor's Office, Pasacao</a:t>
            </a:r>
          </a:p>
          <a:p>
            <a:pPr>
              <a:spcAft>
                <a:spcPts val="1400"/>
              </a:spcAft>
              <a:defRPr sz="1000">
                <a:solidFill>
                  <a:srgbClr val="4B5563"/>
                </a:solidFill>
                <a:latin typeface="Segoe UI"/>
              </a:defRPr>
            </a:pPr>
            <a:r>
              <a:t>Skill: Intermediate (Docket bundling, portal tracking)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Goal</a:t>
            </a:r>
          </a:p>
          <a:p>
            <a:pPr>
              <a:spcAft>
                <a:spcPts val="1400"/>
              </a:spcAft>
              <a:defRPr sz="1050">
                <a:solidFill>
                  <a:srgbClr val="374151"/>
                </a:solidFill>
                <a:latin typeface="Segoe UI"/>
              </a:defRPr>
            </a:pPr>
            <a:r>
              <a:t>Bundle and submit digital endorsement packets to the Capitol and monitor provincial approval in real time.</a:t>
            </a:r>
          </a:p>
          <a:p>
            <a:pPr>
              <a:spcAft>
                <a:spcPts val="6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Pain Points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Traveling by road to the Provincial Capitol in Pili once a week to submit files.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Severe weather and road hazards disrupt weekly document deliveries.</a:t>
            </a:r>
          </a:p>
          <a:p>
            <a:pPr>
              <a:spcAft>
                <a:spcPts val="8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•  Citizen complaints regarding 7 to 14 days of idle waiting time during Capitol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11827"/>
                </a:solidFill>
                <a:latin typeface="Segoe UI"/>
              </a:defRPr>
            </a:pPr>
            <a:r>
              <a:t>JOURNEY MAP: Municipal &amp; Provincial Reviewers Processing Capitol Endorsement</a:t>
            </a:r>
          </a:p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Scenario: Municipal Assessor submits transfer docket to Provincial Capitol in Pili (Baseline: 7–14 days | Target: &lt;24 hours remote digital approval)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19456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 bIns="146304"/>
          <a:lstStyle/>
          <a:p>
            <a:pPr algn="ctr">
              <a:defRPr sz="1300" b="1">
                <a:solidFill>
                  <a:srgbClr val="111827"/>
                </a:solidFill>
                <a:latin typeface="Segoe UI"/>
              </a:defRPr>
            </a:pPr>
            <a:r>
              <a:t>Engr. Rodrigo E. Peña</a:t>
            </a:r>
          </a:p>
          <a:p>
            <a:pPr>
              <a:spcAft>
                <a:spcPts val="1400"/>
              </a:spcAft>
              <a:defRPr sz="1100" b="1">
                <a:solidFill>
                  <a:srgbClr val="1D4ED8"/>
                </a:solidFill>
                <a:latin typeface="Segoe UI"/>
              </a:defRPr>
            </a:pPr>
            <a:r>
              <a:t>Provincial Examiner (Age 44)</a:t>
            </a:r>
          </a:p>
          <a:p>
            <a:pPr>
              <a:spcAft>
                <a:spcPts val="400"/>
              </a:spcAft>
              <a:defRPr sz="1100" b="1">
                <a:solidFill>
                  <a:srgbClr val="111827"/>
                </a:solidFill>
                <a:latin typeface="Segoe UI"/>
              </a:defRPr>
            </a:pPr>
            <a:r>
              <a:t>Operational Context</a:t>
            </a:r>
          </a:p>
          <a:p>
            <a:pPr>
              <a:spcAft>
                <a:spcPts val="1400"/>
              </a:spcAft>
              <a:defRPr sz="1000">
                <a:solidFill>
                  <a:srgbClr val="374151"/>
                </a:solidFill>
                <a:latin typeface="Segoe UI"/>
              </a:defRPr>
            </a:pPr>
            <a:r>
              <a:t>Audits digital endorsement dockets from 35 LGUs, verifies appraisal calculations, notes deficiencies, and queues files for final signing.</a:t>
            </a:r>
          </a:p>
          <a:p>
            <a:pPr>
              <a:spcAft>
                <a:spcPts val="400"/>
              </a:spcAft>
              <a:defRPr sz="1100" b="1">
                <a:solidFill>
                  <a:srgbClr val="111827"/>
                </a:solidFill>
                <a:latin typeface="Segoe UI"/>
              </a:defRPr>
            </a:pPr>
            <a:r>
              <a:t>Process Structure</a:t>
            </a:r>
          </a:p>
          <a:p>
            <a:pPr>
              <a:defRPr sz="1000">
                <a:solidFill>
                  <a:srgbClr val="374151"/>
                </a:solidFill>
                <a:latin typeface="Segoe UI"/>
              </a:defRPr>
            </a:pPr>
            <a:r>
              <a:t>The workflow covers five phases: docket upload, dual-pane inspection, statutory audit, cryptographic signing, and automated dispatch.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63240" y="1463040"/>
          <a:ext cx="626364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51560"/>
                <a:gridCol w="1051560"/>
                <a:gridCol w="1051560"/>
                <a:gridCol w="1051560"/>
                <a:gridCol w="1051560"/>
              </a:tblGrid>
              <a:tr h="14401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1. Docket Upload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2. Dual-Pane Audit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3. Compliance Check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4. Digital Signing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5. Instant Dispatch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4401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ACTIONS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Municipal staff bundles appraisal sheet, deed of sale, and survey sketch into digital dossier.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Provincial examiner opens docket in dual-pane viewer. Inspects boundary survey and title deeds.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Examiner verifies Schedule of Market Values compliance. Flags deficiencies or clears file.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Provincial Assessor executes approval. System affixes cryptographic SHA-256 stamp and token.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System generates printable Certificate of Inspection and Survey (CIS) with QR code.</a:t>
                      </a:r>
                    </a:p>
                  </a:txBody>
                  <a:tcPr/>
                </a:tc>
              </a:tr>
              <a:tr h="14401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9A3412"/>
                          </a:solidFill>
                          <a:latin typeface="Segoe UI"/>
                        </a:defRPr>
                      </a:pPr>
                      <a:r>
                        <a:t>EMOTIONS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Relieved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Eliminates physical weekly car trips to Pili through mountain and highway roads.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Focused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Dual-pane screen allows rapid side-by-side inspection without shuffling papers.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Methodical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Structured checklist ensures complete compliance across all 35 municipalities.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Confident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Cryptographic digital seal guarantees document integrity and prevents forgery.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Satisfied</a:t>
                      </a:r>
                    </a:p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Segoe UI"/>
                        </a:defRPr>
                      </a:pPr>
                      <a:r>
                        <a:t>Approved documents return to municipal databases in seconds instead of weeks.</a:t>
                      </a:r>
                    </a:p>
                  </a:txBody>
                  <a:tcPr/>
                </a:tc>
              </a:tr>
              <a:tr h="14401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65F46"/>
                          </a:solidFill>
                          <a:latin typeface="Segoe UI"/>
                        </a:defRPr>
                      </a:pPr>
                      <a:r>
                        <a:t>SOLUTION</a:t>
                      </a:r>
                      <a:br/>
                      <a:r>
                        <a:t>IDEAS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Encrypted docket bundling tool uploads certified PDF packets directly to the Capitol pipeline.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Provincial review workspace provides synchronized dual-pane viewer and annotation tools.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Automated SMV variance checking cross-references appraisal inputs against provincial tables.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Digital signing module embeds cryptographic SHA-256 signature stamp and verification token.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Real-time dispatch engine delivers approved CIS and Tax Declarations back to LGU databases.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85953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4B5563"/>
                </a:solidFill>
                <a:latin typeface="Segoe UI"/>
              </a:defRPr>
            </a:pPr>
            <a:r>
              <a:t>STORY BOARD: Provincial Capitol Remote Endorsement &amp; Digital Approval Pipeline</a:t>
            </a:r>
          </a:p>
        </p:txBody>
      </p:sp>
      <p:pic>
        <p:nvPicPr>
          <p:cNvPr id="3" name="Picture 2" descr="storyboard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8595360" cy="47974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8595360" cy="640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11827"/>
                </a:solidFill>
                <a:latin typeface="Segoe UI"/>
              </a:defRPr>
            </a:pPr>
            <a:r>
              <a:t>USER &amp; SYSTEM REQUIREMENTS SPECIFICATION</a:t>
            </a:r>
          </a:p>
          <a:p>
            <a:pPr>
              <a:spcAft>
                <a:spcPts val="400"/>
              </a:spcAft>
              <a:defRPr sz="1250" b="1">
                <a:solidFill>
                  <a:srgbClr val="111827"/>
                </a:solidFill>
                <a:latin typeface="Segoe UI"/>
              </a:defRPr>
            </a:pPr>
            <a:r>
              <a:t>USER 1: MUNICIPAL ENDORSEMENT OFFICER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Municipal endorsement officers prepare assessment dossiers and submit them to the Capitol for statutory approval.</a:t>
            </a:r>
          </a:p>
          <a:p>
            <a:pPr>
              <a:spcAft>
                <a:spcPts val="4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USER REQUIREMENTS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The system must allow digital dossier bundling, online submission, and real-time tracking of Capitol review queues.</a:t>
            </a:r>
          </a:p>
          <a:p>
            <a:pPr>
              <a:spcAft>
                <a:spcPts val="8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SYSTEM REQUIREMENTS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FR1.1: The system must bundle appraisal sheets, deeds of sale, and survey sketches into encrypted digital dockets.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FR1.2: The system must upload endorsement dockets directly to the Provincial Assessor pipeline without physical courier transit.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FR1.3: The system must display the live Capitol review status and queue position of submitted dockets.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FR1.4: The system must notify municipal personnel immediately when a docket requires corrective deficiency revision.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Non-Functional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NF1.1: The system must upload dockets up to twenty-five megabytes in less than thirty seconds.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NF1.2: The system must enforce AES-256 encryption on all stored and transmitted endorsement dockets.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NF1.3: The municipal portal must function reliably on standard municipal internet connections.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8595360" cy="640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11827"/>
                </a:solidFill>
                <a:latin typeface="Segoe UI"/>
              </a:defRPr>
            </a:pPr>
            <a:r>
              <a:t>USER &amp; SYSTEM REQUIREMENTS SPECIFICATION</a:t>
            </a:r>
          </a:p>
          <a:p>
            <a:pPr>
              <a:spcAft>
                <a:spcPts val="400"/>
              </a:spcAft>
              <a:defRPr sz="1250" b="1">
                <a:solidFill>
                  <a:srgbClr val="111827"/>
                </a:solidFill>
                <a:latin typeface="Segoe UI"/>
              </a:defRPr>
            </a:pPr>
            <a:r>
              <a:t>USER 2: PROVINCIAL REVIEW EXAMINER (CAPITOL TECHNICAL REVIEW UNIT)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Provincial examiners inspect municipal assessment dockets to ensure compliance with provincial appraisal standards.</a:t>
            </a:r>
          </a:p>
          <a:p>
            <a:pPr>
              <a:spcAft>
                <a:spcPts val="4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USER REQUIREMENTS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The system must provide dual-pane document viewers, compliance checklists, and structured deficiency annotation tools.</a:t>
            </a:r>
          </a:p>
          <a:p>
            <a:pPr>
              <a:spcAft>
                <a:spcPts val="8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SYSTEM REQUIREMENTS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FR2.1: The system must provide a web interface with dual-pane document viewer and zoom inspection controls.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FR2.2: The system must display an interactive statutory compliance checklist for each submitted municipal docket.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FR2.3: The system must flag valuation discrepancies against the provincial Schedule of Base Market Values table.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FR2.4: The system must allow examiners to return dockets with itemized deficiency notes and corrective instructions.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Non-Functional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NF2.1: The dual-pane inspection interface must open high-resolution document pages in less than two seconds.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NF2.2: The system must log every examiner inspection, annotation, and return action in an immutable audit trail.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NF2.3: The system must maintain session security with automatic logout after fifteen minutes of inactivity.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8595360" cy="640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11827"/>
                </a:solidFill>
                <a:latin typeface="Segoe UI"/>
              </a:defRPr>
            </a:pPr>
            <a:r>
              <a:t>USER &amp; SYSTEM REQUIREMENTS SPECIFICATION</a:t>
            </a:r>
          </a:p>
          <a:p>
            <a:pPr>
              <a:spcAft>
                <a:spcPts val="400"/>
              </a:spcAft>
              <a:defRPr sz="1250" b="1">
                <a:solidFill>
                  <a:srgbClr val="111827"/>
                </a:solidFill>
                <a:latin typeface="Segoe UI"/>
              </a:defRPr>
            </a:pPr>
            <a:r>
              <a:t>USER 3: PROVINCIAL ASSESSOR (CAPITOL CHIEF APPROVER)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The Provincial Assessor holds statutory final approval authority for all property assessments in Camarines Sur.</a:t>
            </a:r>
          </a:p>
          <a:p>
            <a:pPr>
              <a:spcAft>
                <a:spcPts val="4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USER REQUIREMENTS</a:t>
            </a:r>
          </a:p>
          <a:p>
            <a:pPr>
              <a:spcAft>
                <a:spcPts val="1400"/>
              </a:spcAft>
              <a:defRPr sz="1100">
                <a:solidFill>
                  <a:srgbClr val="374151"/>
                </a:solidFill>
                <a:latin typeface="Segoe UI"/>
              </a:defRPr>
            </a:pPr>
            <a:r>
              <a:t>The system must support cryptographic digital signing, automated CIS generation, and instant bidirectional dispatch.</a:t>
            </a:r>
          </a:p>
          <a:p>
            <a:pPr>
              <a:spcAft>
                <a:spcPts val="800"/>
              </a:spcAft>
              <a:defRPr sz="1200" b="1">
                <a:solidFill>
                  <a:srgbClr val="111827"/>
                </a:solidFill>
                <a:latin typeface="Segoe UI"/>
              </a:defRPr>
            </a:pPr>
            <a:r>
              <a:t>SYSTEM REQUIREMENTS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FR3.1: The system must enable official digital approval execution with cryptographic SHA-256 signature stamps.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FR3.2: The system must generate Certificate of Inspection and Survey documents with embedded verification QR codes.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FR3.3: The system must dispatch approved dockets back to municipal assessor and treasury databases in under one second.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FR3.4: The system must support batch endorsement approval for multiple pre-audited dockets during peak cycles.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50" b="1">
                <a:solidFill>
                  <a:srgbClr val="111827"/>
                </a:solidFill>
                <a:latin typeface="Segoe UI"/>
              </a:defRPr>
            </a:pPr>
            <a:r>
              <a:t>• Non-Functional Requirements: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NF3.1: Cryptographic digital stamps must use SHA-256 hashing to guarantee unalterable document authenticity.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NF3.2: The system must maintain ninety-nine point five percent uptime during provincial government working hours.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Segoe UI"/>
              </a:defRPr>
            </a:pPr>
            <a:r>
              <a:t>   ○ NF3.3: The system must retain complete digital audit logs for ten years under statutory audit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